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564" y="2697018"/>
            <a:ext cx="9024620" cy="1320800"/>
          </a:xfrm>
        </p:spPr>
        <p:txBody>
          <a:bodyPr>
            <a:normAutofit/>
          </a:bodyPr>
          <a:lstStyle/>
          <a:p>
            <a:r>
              <a:rPr lang="en-US" sz="5400" dirty="0"/>
              <a:t>DATA TYPES CONT…..</a:t>
            </a:r>
          </a:p>
        </p:txBody>
      </p:sp>
    </p:spTree>
    <p:extLst>
      <p:ext uri="{BB962C8B-B14F-4D97-AF65-F5344CB8AC3E}">
        <p14:creationId xmlns:p14="http://schemas.microsoft.com/office/powerpoint/2010/main" val="124307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 AND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1619" y="1384075"/>
            <a:ext cx="8596668" cy="388077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is a collection of items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changeable, and allows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fruits = ["apple", "banana", "cherry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dictionary is a collection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Keys are unique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= {"name": "Mary", "age": 20, "course": "Cybersecurity"}</a:t>
            </a:r>
          </a:p>
        </p:txBody>
      </p:sp>
    </p:spTree>
    <p:extLst>
      <p:ext uri="{BB962C8B-B14F-4D97-AF65-F5344CB8AC3E}">
        <p14:creationId xmlns:p14="http://schemas.microsoft.com/office/powerpoint/2010/main" val="187043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on Dictionaries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331261"/>
            <a:ext cx="794640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Dictionaries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value: student["name"] → "Mary"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 value: student["age"] = 21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new key-value: student["year"] = "Third"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key-value: del student["course"]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dictionary: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37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key, value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student.items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print(key, ":", value)</a:t>
            </a:r>
          </a:p>
        </p:txBody>
      </p:sp>
    </p:spTree>
    <p:extLst>
      <p:ext uri="{BB962C8B-B14F-4D97-AF65-F5344CB8AC3E}">
        <p14:creationId xmlns:p14="http://schemas.microsoft.com/office/powerpoint/2010/main" val="96088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570" y="1270000"/>
            <a:ext cx="8596668" cy="1320800"/>
          </a:xfrm>
        </p:spPr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16" y="1930400"/>
            <a:ext cx="8596668" cy="3880773"/>
          </a:xfrm>
        </p:spPr>
        <p:txBody>
          <a:bodyPr/>
          <a:lstStyle/>
          <a:p>
            <a:r>
              <a:rPr lang="en-US" dirty="0"/>
              <a:t>Used to perform mathematical operations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190809"/>
              </p:ext>
            </p:extLst>
          </p:nvPr>
        </p:nvGraphicFramePr>
        <p:xfrm>
          <a:off x="677863" y="2363946"/>
          <a:ext cx="8596312" cy="3474720"/>
        </p:xfrm>
        <a:graphic>
          <a:graphicData uri="http://schemas.openxmlformats.org/drawingml/2006/table">
            <a:tbl>
              <a:tblPr/>
              <a:tblGrid>
                <a:gridCol w="2149078"/>
                <a:gridCol w="2149078"/>
                <a:gridCol w="2149078"/>
                <a:gridCol w="2149078"/>
              </a:tblGrid>
              <a:tr h="330700"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700"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+ 3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700"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5 - 3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700"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*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700">
                <a:tc>
                  <a:txBody>
                    <a:bodyPr/>
                    <a:lstStyle/>
                    <a:p>
                      <a:r>
                        <a:rPr lang="en-US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Division (float)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/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8725">
                <a:tc>
                  <a:txBody>
                    <a:bodyPr/>
                    <a:lstStyle/>
                    <a:p>
                      <a:r>
                        <a:rPr lang="en-US"/>
                        <a:t>//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Floor Division (integer)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//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8725">
                <a:tc>
                  <a:txBody>
                    <a:bodyPr/>
                    <a:lstStyle/>
                    <a:p>
                      <a:r>
                        <a:rPr lang="en-US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Modulus (remainder)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5 %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700">
                <a:tc>
                  <a:txBody>
                    <a:bodyPr/>
                    <a:lstStyle/>
                    <a:p>
                      <a:r>
                        <a:rPr lang="en-US"/>
                        <a:t>**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 **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29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x = 10</a:t>
            </a:r>
          </a:p>
          <a:p>
            <a:r>
              <a:rPr lang="es-ES" dirty="0"/>
              <a:t>y = 3</a:t>
            </a:r>
          </a:p>
          <a:p>
            <a:r>
              <a:rPr lang="es-ES" dirty="0" err="1"/>
              <a:t>print</a:t>
            </a:r>
            <a:r>
              <a:rPr lang="es-ES" dirty="0"/>
              <a:t>(x + y)  # 13</a:t>
            </a:r>
          </a:p>
          <a:p>
            <a:r>
              <a:rPr lang="es-ES" dirty="0" err="1"/>
              <a:t>print</a:t>
            </a:r>
            <a:r>
              <a:rPr lang="es-ES" dirty="0"/>
              <a:t>(x // y) # 3</a:t>
            </a:r>
          </a:p>
          <a:p>
            <a:r>
              <a:rPr lang="es-ES" dirty="0" err="1"/>
              <a:t>print</a:t>
            </a:r>
            <a:r>
              <a:rPr lang="es-ES" dirty="0"/>
              <a:t>(x % y)  #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1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OPERATORS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218490"/>
              </p:ext>
            </p:extLst>
          </p:nvPr>
        </p:nvGraphicFramePr>
        <p:xfrm>
          <a:off x="677863" y="2456873"/>
          <a:ext cx="8596312" cy="2924593"/>
        </p:xfrm>
        <a:graphic>
          <a:graphicData uri="http://schemas.openxmlformats.org/drawingml/2006/table">
            <a:tbl>
              <a:tblPr/>
              <a:tblGrid>
                <a:gridCol w="2149078"/>
                <a:gridCol w="2149078"/>
                <a:gridCol w="2149078"/>
                <a:gridCol w="2149078"/>
              </a:tblGrid>
              <a:tr h="41779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79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==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79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!=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79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&gt;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79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&lt;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79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&gt;=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79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&lt;=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6618" y="1466503"/>
            <a:ext cx="687092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Comparison Operators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values, returns True or False.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69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 &gt; b)  # True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 == b) # False</a:t>
            </a:r>
          </a:p>
        </p:txBody>
      </p:sp>
    </p:spTree>
    <p:extLst>
      <p:ext uri="{BB962C8B-B14F-4D97-AF65-F5344CB8AC3E}">
        <p14:creationId xmlns:p14="http://schemas.microsoft.com/office/powerpoint/2010/main" val="138989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720792"/>
              </p:ext>
            </p:extLst>
          </p:nvPr>
        </p:nvGraphicFramePr>
        <p:xfrm>
          <a:off x="677690" y="1681511"/>
          <a:ext cx="8596312" cy="2560320"/>
        </p:xfrm>
        <a:graphic>
          <a:graphicData uri="http://schemas.openxmlformats.org/drawingml/2006/table">
            <a:tbl>
              <a:tblPr/>
              <a:tblGrid>
                <a:gridCol w="2149078"/>
                <a:gridCol w="2149078"/>
                <a:gridCol w="2149078"/>
                <a:gridCol w="2149078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if both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and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if any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or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Inverts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00" y="-1727422"/>
            <a:ext cx="32175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conditional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662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734" y="1467862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5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 &gt; 2 and x &lt; 10)  # True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 &lt; 2 or x &gt; 3)    # True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print(not(x &gt; 2))        # False</a:t>
            </a:r>
          </a:p>
        </p:txBody>
      </p:sp>
    </p:spTree>
    <p:extLst>
      <p:ext uri="{BB962C8B-B14F-4D97-AF65-F5344CB8AC3E}">
        <p14:creationId xmlns:p14="http://schemas.microsoft.com/office/powerpoint/2010/main" val="161107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563" y="863600"/>
            <a:ext cx="8596668" cy="13208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602" y="1843914"/>
            <a:ext cx="8596668" cy="430750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 are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variables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allow you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operations and assign the result at the same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ASSIGNMENT OPERATORS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Assignment Operator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(=)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operator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value to a variable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"Mary"</a:t>
            </a:r>
          </a:p>
        </p:txBody>
      </p:sp>
    </p:spTree>
    <p:extLst>
      <p:ext uri="{BB962C8B-B14F-4D97-AF65-F5344CB8AC3E}">
        <p14:creationId xmlns:p14="http://schemas.microsoft.com/office/powerpoint/2010/main" val="265227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Assignment Operator (+=)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4044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operator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 value and assigns the 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variable.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5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+= 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 Assignment Operator (-=)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operator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subtracts a value and assigns the 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-= 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3168100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Modulus Assignment Operator (%=)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finds the remainder and assigns it.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%= 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2167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498" y="1504807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 allow a program to make decisions based on conditions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checks if something is True or False, and then executes code based on the result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 real life: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raining, take an umbrella.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marks are above 50, the student passes.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29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1825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if statement checks a condition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18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&gt;= 18: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print("You are an adult")</a:t>
            </a:r>
          </a:p>
        </p:txBody>
      </p:sp>
    </p:spTree>
    <p:extLst>
      <p:ext uri="{BB962C8B-B14F-4D97-AF65-F5344CB8AC3E}">
        <p14:creationId xmlns:p14="http://schemas.microsoft.com/office/powerpoint/2010/main" val="1223783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IF….ELSE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970" y="1393970"/>
            <a:ext cx="10489430" cy="528392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program to choose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options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statement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= 10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number % 2 == 0: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print("Even number")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print("Odd number")</a:t>
            </a:r>
          </a:p>
        </p:txBody>
      </p:sp>
    </p:spTree>
    <p:extLst>
      <p:ext uri="{BB962C8B-B14F-4D97-AF65-F5344CB8AC3E}">
        <p14:creationId xmlns:p14="http://schemas.microsoft.com/office/powerpoint/2010/main" val="2150341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IF…..ELIF….ELSE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there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</a:p>
          <a:p>
            <a:pPr marL="0" indent="0">
              <a:buNone/>
            </a:pPr>
            <a:r>
              <a:rPr lang="en-US" sz="2000" b="1" u="sng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statement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condition: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statement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statement</a:t>
            </a:r>
          </a:p>
        </p:txBody>
      </p:sp>
    </p:spTree>
    <p:extLst>
      <p:ext uri="{BB962C8B-B14F-4D97-AF65-F5344CB8AC3E}">
        <p14:creationId xmlns:p14="http://schemas.microsoft.com/office/powerpoint/2010/main" val="2081040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71" y="149557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75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&gt;= 80</a:t>
            </a:r>
            <a:r>
              <a:rPr 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print("Distinction")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marks &gt;= 50: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print("Pass")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print("Fail")</a:t>
            </a:r>
          </a:p>
        </p:txBody>
      </p:sp>
    </p:spTree>
    <p:extLst>
      <p:ext uri="{BB962C8B-B14F-4D97-AF65-F5344CB8AC3E}">
        <p14:creationId xmlns:p14="http://schemas.microsoft.com/office/powerpoint/2010/main" val="1095555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NESTED IF STATEMENTS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statement inside another if statement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u="sng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 = </a:t>
            </a: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age &gt;= 18: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citizen: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print("You can vote</a:t>
            </a:r>
            <a: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br>
              <a:rPr lang="en-US" sz="2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493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61" y="0"/>
            <a:ext cx="8596668" cy="1320800"/>
          </a:xfrm>
        </p:spPr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88" y="581891"/>
            <a:ext cx="8596668" cy="5384800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the user to enter their 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"Adult" if the age is 18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the user to enter a number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whether the number is positive or negative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program that: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for student marks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Distinction if marks ≥ 80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if marks ≥ 50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if marks &lt; 50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4353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218</TotalTime>
  <Words>810</Words>
  <Application>Microsoft Office PowerPoint</Application>
  <PresentationFormat>Widescreen</PresentationFormat>
  <Paragraphs>217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Times New Roman</vt:lpstr>
      <vt:lpstr>Trebuchet MS</vt:lpstr>
      <vt:lpstr>Wingdings</vt:lpstr>
      <vt:lpstr>Wingdings 3</vt:lpstr>
      <vt:lpstr>Facet</vt:lpstr>
      <vt:lpstr>DATA TYPES CONT…..</vt:lpstr>
      <vt:lpstr>LISTS AND DICTIONARY</vt:lpstr>
      <vt:lpstr>Operations on Dictionaries</vt:lpstr>
      <vt:lpstr>example</vt:lpstr>
      <vt:lpstr>OPERATORS</vt:lpstr>
      <vt:lpstr>EXAMPLE</vt:lpstr>
      <vt:lpstr>COMPARISON OPERATORS</vt:lpstr>
      <vt:lpstr>EXAMPLE</vt:lpstr>
      <vt:lpstr>LOGICAL OPERATORS</vt:lpstr>
      <vt:lpstr>EXAMPLE</vt:lpstr>
      <vt:lpstr>ASSIGNMENT OPERATORS</vt:lpstr>
      <vt:lpstr>Addition Assignment Operator (+=)</vt:lpstr>
      <vt:lpstr> Modulus Assignment Operator (%=) </vt:lpstr>
      <vt:lpstr>CONDITIONAL STATEMENTS</vt:lpstr>
      <vt:lpstr>THE IF STATEMENT</vt:lpstr>
      <vt:lpstr>THE IF….ELSE STATEMENT</vt:lpstr>
      <vt:lpstr>THE IF…..ELIF….ELSE STATEMENTS</vt:lpstr>
      <vt:lpstr>EXAMPLE</vt:lpstr>
      <vt:lpstr>NESTED IF STATEMENTS</vt:lpstr>
      <vt:lpstr>TASKS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 CONT…..</dc:title>
  <dc:creator>MARY CHANDA</dc:creator>
  <cp:lastModifiedBy>MARY CHANDA</cp:lastModifiedBy>
  <cp:revision>13</cp:revision>
  <dcterms:created xsi:type="dcterms:W3CDTF">2026-03-13T12:18:14Z</dcterms:created>
  <dcterms:modified xsi:type="dcterms:W3CDTF">2026-03-14T07:56:16Z</dcterms:modified>
</cp:coreProperties>
</file>