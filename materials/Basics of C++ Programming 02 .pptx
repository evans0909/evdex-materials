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61" r:id="rId11"/>
    <p:sldId id="264" r:id="rId12"/>
  </p:sldIdLst>
  <p:sldSz cx="12192000" cy="6858000"/>
  <p:notesSz cx="6858000" cy="9144000"/>
  <p:defaultTextStyle>
    <a:defPPr>
      <a:defRPr lang="en-Z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66" d="100"/>
          <a:sy n="66" d="100"/>
        </p:scale>
        <p:origin x="-144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C1635-0677-060B-5456-C86AB1CAC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809BFA-3874-753B-7848-200313449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E97-F8E6-E09C-2D92-9E7FF9A4F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13/03/2026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96B83-48C8-8D36-F0A9-F868B80F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3E0F4-14FA-2FE5-45FD-E5D9B92A1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4042345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E21F2-62A0-6233-1A57-B6749D246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4E33C-0E2F-7E1E-AAB3-C2FF83C30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B5F11-C64F-D32A-AEBB-EFAF766D6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13/03/2026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4B584-BC18-18F6-9E0E-806C438C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AB591-7476-152B-EB71-10C3E4B3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513000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263EA-A001-6A0C-DD39-BE72E025B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82BB2-DE93-8C2A-7D8B-BF4C08EBE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D8816-3931-2515-8AAB-CB0492E3B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13/03/2026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91937-FC6B-6D96-D661-E0F3098AC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36B64-1AA8-B952-3C93-E3ABC18C0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457125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E9946-C177-B60A-ACFC-EEB349AE2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9D8D6-257C-5A4B-E989-C752E33BA7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EC1BD-7D54-878B-A556-A2A0D7949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A88DD-1A05-6BCB-0AB2-B7F6BEA8F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13/03/2026</a:t>
            </a:fld>
            <a:endParaRPr lang="en-Z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0F67E-8FA0-C340-15A5-0EA281B8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C19BE-20A9-780C-0A67-1CBD22EC3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878110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74BD6-82C4-1884-D6B8-21631EDB8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F0224-79FD-CE2D-303E-999F1EEB1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3832-40DC-E555-BC8E-DC00AFA19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C16FE0-BB5E-0630-843F-408D3F028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2C2359-B000-74D4-3FA5-79B7AEE665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BDD52-E516-7B6E-59C5-DBD56EDF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13/03/2026</a:t>
            </a:fld>
            <a:endParaRPr lang="en-ZM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AC2DBD-6B72-8A31-157E-F10091414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7F1E76-83B0-A594-4A42-DF3FED3E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096475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856AB-6E1F-C38F-8A80-3ED619E60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D5C51C-8E07-8839-B425-D71BE3253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13/03/2026</a:t>
            </a:fld>
            <a:endParaRPr lang="en-ZM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A22055-F469-0A99-3151-EDFCE0012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C5D1D1-5433-80D4-7CF5-3884BF664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462107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DEAF09-3879-1D7C-093F-18A673300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13/03/2026</a:t>
            </a:fld>
            <a:endParaRPr lang="en-ZM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B90726-FAC1-587B-2D51-32397D304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3FB68-90AD-8BD9-10D0-AC9CA621B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68339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EF73B-95F0-727D-B631-C4212F73E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A29B8-1106-9396-D7DD-4B29213C7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0F9C58-4AD2-A44D-D9F4-669BB974D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27EE1-7548-8A42-2671-A30F7CF46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13/03/2026</a:t>
            </a:fld>
            <a:endParaRPr lang="en-Z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FBAD8-3DCC-71BE-BB7C-E2A886206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3BE560-CB8E-2B94-A2AE-56417A08B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744944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3F1D1-DA61-DF75-F625-77C9AF63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9C4095-A7A3-0FA1-7DD3-75791B21E8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F86D1-3E03-2584-DE63-2E1F397D2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40A39-FC80-5DB9-DD3C-2076A7877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13/03/2026</a:t>
            </a:fld>
            <a:endParaRPr lang="en-Z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B9AF5-9AC5-4E90-C33D-F4C53012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827F0-E20B-05B7-2720-415295DD6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91907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F2822-9CA1-E9E4-3758-3D87C856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1584C0-D24C-BCFB-17AD-D22D00E3C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93626-DA65-7DB6-1155-050CD2C75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13/03/2026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34C15-EEA9-9903-D2FF-8E3901E6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B2408-73F9-9184-9B8E-8F2BA7FF8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63083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C4538-CBDF-4F2E-B82E-0A55E4FBC3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6B5772-8118-53E7-FB68-CB9463AAA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CD97B-94D0-8ED4-26F6-BB5E9F65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E9AE5-3A4B-4992-A40D-18E1DA2C69C3}" type="datetimeFigureOut">
              <a:rPr lang="en-ZM" smtClean="0"/>
              <a:t>13/03/2026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FD360-5698-A00D-629C-6D3404842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39AB7-6614-7F5C-524B-4C110AE78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840731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F4015A-2C4A-55FB-617F-2765ADE39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B4C95-3DE4-FA3C-811A-BAD97DF4C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03071-6909-3DBB-A1AD-909DA37C5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BE9AE5-3A4B-4992-A40D-18E1DA2C69C3}" type="datetimeFigureOut">
              <a:rPr lang="en-ZM" smtClean="0"/>
              <a:t>13/03/2026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888B1-60D2-D73F-C875-A48D17382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8D599-277B-0F96-2AF3-B0406688D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B9358E-047A-44C7-ADE6-1B6759F57B45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860131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Z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A94B9-B25A-BC18-28A6-2FA53DCECD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Basics of C++</a:t>
            </a:r>
            <a:br>
              <a:rPr lang="en-GB" b="1" dirty="0"/>
            </a:br>
            <a:endParaRPr lang="en-ZM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94A0A5-2930-45EC-EF3C-0BCE865DC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1768" y="2555856"/>
            <a:ext cx="4459705" cy="423862"/>
          </a:xfrm>
        </p:spPr>
        <p:txBody>
          <a:bodyPr/>
          <a:lstStyle/>
          <a:p>
            <a:r>
              <a:rPr lang="en-GB" dirty="0"/>
              <a:t>Learning by doing</a:t>
            </a:r>
            <a:endParaRPr lang="en-ZM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D57E2D-DF4B-686C-F6B9-33D7A311842A}"/>
              </a:ext>
            </a:extLst>
          </p:cNvPr>
          <p:cNvSpPr txBox="1"/>
          <p:nvPr/>
        </p:nvSpPr>
        <p:spPr>
          <a:xfrm>
            <a:off x="800100" y="5773737"/>
            <a:ext cx="3009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Presented by: </a:t>
            </a:r>
            <a:r>
              <a:rPr lang="en-GB" sz="1400" dirty="0" err="1"/>
              <a:t>Shft</a:t>
            </a:r>
            <a:r>
              <a:rPr lang="en-GB" sz="1400" dirty="0"/>
              <a:t> (Alick)</a:t>
            </a:r>
            <a:endParaRPr lang="en-ZM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DABC81-6EF4-5A0D-7271-ED1C5CA50E95}"/>
              </a:ext>
            </a:extLst>
          </p:cNvPr>
          <p:cNvSpPr txBox="1"/>
          <p:nvPr/>
        </p:nvSpPr>
        <p:spPr>
          <a:xfrm>
            <a:off x="2069432" y="3080483"/>
            <a:ext cx="77643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Comparison (Relational) Operators, Logical Operators, and Control Flow Statements</a:t>
            </a:r>
          </a:p>
        </p:txBody>
      </p:sp>
    </p:spTree>
    <p:extLst>
      <p:ext uri="{BB962C8B-B14F-4D97-AF65-F5344CB8AC3E}">
        <p14:creationId xmlns:p14="http://schemas.microsoft.com/office/powerpoint/2010/main" val="2827296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65092-ADB9-BA52-ED95-6B76A33A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BFFE1-DCFA-6C82-58BC-5E2FE6D41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  <a:endParaRPr lang="en-GB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B34521-96AD-0DF1-6B2F-D2AAB6D42909}"/>
              </a:ext>
            </a:extLst>
          </p:cNvPr>
          <p:cNvSpPr txBox="1"/>
          <p:nvPr/>
        </p:nvSpPr>
        <p:spPr>
          <a:xfrm>
            <a:off x="705854" y="1690688"/>
            <a:ext cx="936858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ZM" altLang="en-ZM" sz="2400" dirty="0">
                <a:latin typeface="Arial" panose="020B0604020202020204" pitchFamily="34" charset="0"/>
              </a:rPr>
              <a:t>What Are Operators?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ZM" altLang="en-ZM" sz="2400" dirty="0">
                <a:latin typeface="Arial" panose="020B0604020202020204" pitchFamily="34" charset="0"/>
              </a:rPr>
              <a:t>Comparison (Relational) Operators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ZM" altLang="en-ZM" sz="2400" dirty="0">
                <a:latin typeface="Arial" panose="020B0604020202020204" pitchFamily="34" charset="0"/>
              </a:rPr>
              <a:t>Logical Operators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ZM" altLang="en-ZM" sz="2400" dirty="0">
                <a:latin typeface="Arial" panose="020B0604020202020204" pitchFamily="34" charset="0"/>
              </a:rPr>
              <a:t>Operator Precedence &amp; Short-Circuit Evaluation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ZM" altLang="en-ZM" sz="2400" dirty="0">
                <a:latin typeface="Arial" panose="020B0604020202020204" pitchFamily="34" charset="0"/>
              </a:rPr>
              <a:t>Control Flow – Conditionals (if / else if / else)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ZM" altLang="en-ZM" sz="2400" dirty="0">
                <a:latin typeface="Arial" panose="020B0604020202020204" pitchFamily="34" charset="0"/>
              </a:rPr>
              <a:t>Ternary Operator &amp; Switch Statement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ZM" altLang="en-ZM" sz="2400" dirty="0">
                <a:latin typeface="Arial" panose="020B0604020202020204" pitchFamily="34" charset="0"/>
              </a:rPr>
              <a:t>Control Flow – Loops (while, do-while, for)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ZM" altLang="en-ZM" sz="2400" dirty="0">
                <a:latin typeface="Arial" panose="020B0604020202020204" pitchFamily="34" charset="0"/>
              </a:rPr>
              <a:t>Break, Continue &amp; Advanced Flow Control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ZM" altLang="en-ZM" sz="2400" dirty="0">
                <a:latin typeface="Arial" panose="020B0604020202020204" pitchFamily="34" charset="0"/>
              </a:rPr>
              <a:t>Combining Operators: Real-World Patterns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ZM" altLang="en-ZM" sz="2400" dirty="0">
                <a:latin typeface="Arial" panose="020B0604020202020204" pitchFamily="34" charset="0"/>
              </a:rPr>
              <a:t>Common Pitfalls &amp; Edge Cases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ZM" altLang="en-ZM" sz="2400" dirty="0">
                <a:latin typeface="Arial" panose="020B0604020202020204" pitchFamily="34" charset="0"/>
              </a:rPr>
              <a:t>Best Practices &amp; Modern C++ Tips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ZM" altLang="en-ZM" sz="2400" dirty="0">
                <a:latin typeface="Arial" panose="020B0604020202020204" pitchFamily="34" charset="0"/>
              </a:rPr>
              <a:t>Real-World Examples (Grading, Login, Game Loop)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746259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2D716-6BC1-782A-E3EC-115F3FC20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Are Operators?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7F511-B905-243E-2437-BB010C19E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Special symbols that perform actions on operands</a:t>
            </a:r>
          </a:p>
          <a:p>
            <a:r>
              <a:rPr lang="en-GB" dirty="0"/>
              <a:t>Return values (numbers, bool, etc.)</a:t>
            </a:r>
          </a:p>
          <a:p>
            <a:r>
              <a:rPr lang="en-GB" dirty="0"/>
              <a:t>Two categories today: • </a:t>
            </a:r>
            <a:r>
              <a:rPr lang="en-GB" b="1" dirty="0"/>
              <a:t>Comparison (Relational)</a:t>
            </a:r>
            <a:r>
              <a:rPr lang="en-GB" dirty="0"/>
              <a:t> → compare values • </a:t>
            </a:r>
            <a:r>
              <a:rPr lang="en-GB" b="1" dirty="0"/>
              <a:t>Logical</a:t>
            </a:r>
            <a:r>
              <a:rPr lang="en-GB" dirty="0"/>
              <a:t> → combine </a:t>
            </a:r>
            <a:r>
              <a:rPr lang="en-GB" dirty="0" err="1"/>
              <a:t>boolean</a:t>
            </a:r>
            <a:r>
              <a:rPr lang="en-GB" dirty="0"/>
              <a:t> results</a:t>
            </a:r>
          </a:p>
          <a:p>
            <a:r>
              <a:rPr lang="en-GB" dirty="0"/>
              <a:t>Control flow uses the </a:t>
            </a:r>
            <a:r>
              <a:rPr lang="en-GB" dirty="0" err="1"/>
              <a:t>boolean</a:t>
            </a:r>
            <a:r>
              <a:rPr lang="en-GB" dirty="0"/>
              <a:t> results to decide execution path</a:t>
            </a:r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1442774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30821-2CDD-ED1A-D36A-AEDB069D9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Comparison (Relational) Operators</a:t>
            </a:r>
            <a:endParaRPr lang="en-ZM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C19A577-9133-74D7-653B-2C7CEAC279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2628759"/>
              </p:ext>
            </p:extLst>
          </p:nvPr>
        </p:nvGraphicFramePr>
        <p:xfrm>
          <a:off x="1082842" y="2160078"/>
          <a:ext cx="10026315" cy="3200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91325">
                  <a:extLst>
                    <a:ext uri="{9D8B030D-6E8A-4147-A177-3AD203B41FA5}">
                      <a16:colId xmlns:a16="http://schemas.microsoft.com/office/drawing/2014/main" val="2378410898"/>
                    </a:ext>
                  </a:extLst>
                </a:gridCol>
                <a:gridCol w="4010527">
                  <a:extLst>
                    <a:ext uri="{9D8B030D-6E8A-4147-A177-3AD203B41FA5}">
                      <a16:colId xmlns:a16="http://schemas.microsoft.com/office/drawing/2014/main" val="2877295671"/>
                    </a:ext>
                  </a:extLst>
                </a:gridCol>
                <a:gridCol w="3224463">
                  <a:extLst>
                    <a:ext uri="{9D8B030D-6E8A-4147-A177-3AD203B41FA5}">
                      <a16:colId xmlns:a16="http://schemas.microsoft.com/office/drawing/2014/main" val="42683038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73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400"/>
                        <a:t>==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Equal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a ==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3501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400" dirty="0"/>
                        <a:t>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Not equal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a !=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7974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40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Greater than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a &gt;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4039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400"/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Less than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a &lt;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943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400"/>
                        <a:t>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Greater than or equal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a &gt;=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0305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sz="2400"/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Less than or equal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a &lt;=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70305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A9DF126-443F-FB78-393C-D91C27BDFD04}"/>
              </a:ext>
            </a:extLst>
          </p:cNvPr>
          <p:cNvSpPr txBox="1"/>
          <p:nvPr/>
        </p:nvSpPr>
        <p:spPr>
          <a:xfrm>
            <a:off x="1082842" y="1329081"/>
            <a:ext cx="48126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All return bool (true or false).</a:t>
            </a:r>
          </a:p>
          <a:p>
            <a:endParaRPr lang="en-ZM" sz="2400" dirty="0"/>
          </a:p>
        </p:txBody>
      </p:sp>
    </p:spTree>
    <p:extLst>
      <p:ext uri="{BB962C8B-B14F-4D97-AF65-F5344CB8AC3E}">
        <p14:creationId xmlns:p14="http://schemas.microsoft.com/office/powerpoint/2010/main" val="1305974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66CCD-E8A4-D652-68C3-19EFCB7D6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Comparison Operators – Live Examples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2FBA8-C091-17DD-CF94-64C293324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5400" y="1800225"/>
            <a:ext cx="55245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400" dirty="0"/>
              <a:t>#include &lt;iostream&gt;</a:t>
            </a:r>
          </a:p>
          <a:p>
            <a:pPr marL="0" indent="0">
              <a:buNone/>
            </a:pPr>
            <a:r>
              <a:rPr lang="en-GB" sz="1400" dirty="0"/>
              <a:t>#include &lt;string&gt;</a:t>
            </a:r>
          </a:p>
          <a:p>
            <a:pPr marL="0" indent="0">
              <a:buNone/>
            </a:pPr>
            <a:r>
              <a:rPr lang="en-GB" sz="1400" dirty="0"/>
              <a:t>int main() {</a:t>
            </a:r>
          </a:p>
          <a:p>
            <a:pPr marL="0" indent="0">
              <a:buNone/>
            </a:pPr>
            <a:r>
              <a:rPr lang="en-GB" sz="1400" dirty="0"/>
              <a:t>    int a = 10, b = 20;</a:t>
            </a:r>
          </a:p>
          <a:p>
            <a:pPr marL="0" indent="0">
              <a:buNone/>
            </a:pPr>
            <a:r>
              <a:rPr lang="en-GB" sz="1400" dirty="0"/>
              <a:t>    std::</a:t>
            </a:r>
            <a:r>
              <a:rPr lang="en-GB" sz="1400" dirty="0" err="1"/>
              <a:t>cout</a:t>
            </a:r>
            <a:r>
              <a:rPr lang="en-GB" sz="1400" dirty="0"/>
              <a:t> &lt;&lt; std::</a:t>
            </a:r>
            <a:r>
              <a:rPr lang="en-GB" sz="1400" dirty="0" err="1"/>
              <a:t>boolalpha</a:t>
            </a:r>
            <a:r>
              <a:rPr lang="en-GB" sz="1400" dirty="0"/>
              <a:t>;</a:t>
            </a:r>
          </a:p>
          <a:p>
            <a:pPr marL="0" indent="0">
              <a:buNone/>
            </a:pPr>
            <a:r>
              <a:rPr lang="en-GB" sz="1400" dirty="0"/>
              <a:t>    std::</a:t>
            </a:r>
            <a:r>
              <a:rPr lang="en-GB" sz="1400" dirty="0" err="1"/>
              <a:t>cout</a:t>
            </a:r>
            <a:r>
              <a:rPr lang="en-GB" sz="1400" dirty="0"/>
              <a:t> &lt;&lt; (a == b) &lt;&lt; '\n';   // false</a:t>
            </a:r>
          </a:p>
          <a:p>
            <a:pPr marL="0" indent="0">
              <a:buNone/>
            </a:pPr>
            <a:r>
              <a:rPr lang="en-GB" sz="1400" dirty="0"/>
              <a:t>    std::</a:t>
            </a:r>
            <a:r>
              <a:rPr lang="en-GB" sz="1400" dirty="0" err="1"/>
              <a:t>cout</a:t>
            </a:r>
            <a:r>
              <a:rPr lang="en-GB" sz="1400" dirty="0"/>
              <a:t> &lt;&lt; (a != b) &lt;&lt; '\n';   // true</a:t>
            </a:r>
          </a:p>
          <a:p>
            <a:pPr marL="0" indent="0">
              <a:buNone/>
            </a:pPr>
            <a:r>
              <a:rPr lang="en-GB" sz="1400" dirty="0"/>
              <a:t>    std::</a:t>
            </a:r>
            <a:r>
              <a:rPr lang="en-GB" sz="1400" dirty="0" err="1"/>
              <a:t>cout</a:t>
            </a:r>
            <a:r>
              <a:rPr lang="en-GB" sz="1400" dirty="0"/>
              <a:t> &lt;&lt; (a &gt; b)  &lt;&lt; '\n';   // false</a:t>
            </a:r>
          </a:p>
          <a:p>
            <a:pPr marL="0" indent="0">
              <a:buNone/>
            </a:pPr>
            <a:r>
              <a:rPr lang="en-GB" sz="1400" dirty="0"/>
              <a:t>    std::</a:t>
            </a:r>
            <a:r>
              <a:rPr lang="en-GB" sz="1400" dirty="0" err="1"/>
              <a:t>cout</a:t>
            </a:r>
            <a:r>
              <a:rPr lang="en-GB" sz="1400" dirty="0"/>
              <a:t> &lt;&lt; (a &lt;= 10)&lt;&lt; '\n';   // true</a:t>
            </a:r>
          </a:p>
          <a:p>
            <a:endParaRPr lang="en-GB" sz="1400" dirty="0"/>
          </a:p>
          <a:p>
            <a:pPr marL="0" indent="0">
              <a:buNone/>
            </a:pPr>
            <a:r>
              <a:rPr lang="en-GB" sz="1400" dirty="0"/>
              <a:t>    std::string name1 = "Alice";</a:t>
            </a:r>
          </a:p>
          <a:p>
            <a:pPr marL="0" indent="0">
              <a:buNone/>
            </a:pPr>
            <a:r>
              <a:rPr lang="en-GB" sz="1400" dirty="0"/>
              <a:t>    std::string name2 = "Bob";</a:t>
            </a:r>
          </a:p>
          <a:p>
            <a:pPr marL="0" indent="0">
              <a:buNone/>
            </a:pPr>
            <a:r>
              <a:rPr lang="en-GB" sz="1400" dirty="0"/>
              <a:t>    std::</a:t>
            </a:r>
            <a:r>
              <a:rPr lang="en-GB" sz="1400" dirty="0" err="1"/>
              <a:t>cout</a:t>
            </a:r>
            <a:r>
              <a:rPr lang="en-GB" sz="1400" dirty="0"/>
              <a:t> &lt;&lt; (name1 &lt; name2) &lt;&lt; '\n'; // true (lexicographical)</a:t>
            </a:r>
          </a:p>
          <a:p>
            <a:pPr marL="0" indent="0">
              <a:buNone/>
            </a:pPr>
            <a:r>
              <a:rPr lang="en-GB" sz="1400" dirty="0"/>
              <a:t>}</a:t>
            </a:r>
            <a:endParaRPr lang="en-ZM" sz="1400" dirty="0"/>
          </a:p>
        </p:txBody>
      </p:sp>
    </p:spTree>
    <p:extLst>
      <p:ext uri="{BB962C8B-B14F-4D97-AF65-F5344CB8AC3E}">
        <p14:creationId xmlns:p14="http://schemas.microsoft.com/office/powerpoint/2010/main" val="2763496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EB5A-7FB7-4FE4-E978-002DED1C6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Logical Operators</a:t>
            </a:r>
            <a:endParaRPr lang="en-ZM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B1C08D-8E5E-B274-8431-E796A78CCE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3911584"/>
              </p:ext>
            </p:extLst>
          </p:nvPr>
        </p:nvGraphicFramePr>
        <p:xfrm>
          <a:off x="838200" y="1809274"/>
          <a:ext cx="5384800" cy="1463040"/>
        </p:xfrm>
        <a:graphic>
          <a:graphicData uri="http://schemas.openxmlformats.org/drawingml/2006/table">
            <a:tbl>
              <a:tblPr/>
              <a:tblGrid>
                <a:gridCol w="2692400">
                  <a:extLst>
                    <a:ext uri="{9D8B030D-6E8A-4147-A177-3AD203B41FA5}">
                      <a16:colId xmlns:a16="http://schemas.microsoft.com/office/drawing/2014/main" val="2878096102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4648940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88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>
                          <a:latin typeface="Courier New" panose="02070309020205020404" pitchFamily="49" charset="0"/>
                        </a:rPr>
                        <a:t>&amp;&amp;</a:t>
                      </a:r>
                      <a:endParaRPr lang="en-ZM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Logical 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938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 dirty="0"/>
                        <a:t>`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ZM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795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M">
                          <a:latin typeface="Courier New" panose="02070309020205020404" pitchFamily="49" charset="0"/>
                        </a:rPr>
                        <a:t>!</a:t>
                      </a:r>
                      <a:endParaRPr lang="en-ZM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Logical 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240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170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7072D-6C97-3D74-0064-10D6D1B71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Logical Operators – Examples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EC437-0B0A-82A1-880F-760D7C45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bool </a:t>
            </a:r>
            <a:r>
              <a:rPr lang="en-GB" dirty="0" err="1"/>
              <a:t>isAdult</a:t>
            </a:r>
            <a:r>
              <a:rPr lang="en-GB" dirty="0"/>
              <a:t> = age &gt;= 18;</a:t>
            </a:r>
          </a:p>
          <a:p>
            <a:pPr marL="0" indent="0">
              <a:buNone/>
            </a:pPr>
            <a:r>
              <a:rPr lang="en-GB" dirty="0"/>
              <a:t>bool </a:t>
            </a:r>
            <a:r>
              <a:rPr lang="en-GB" dirty="0" err="1"/>
              <a:t>hasLicense</a:t>
            </a:r>
            <a:r>
              <a:rPr lang="en-GB" dirty="0"/>
              <a:t> = true;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if (</a:t>
            </a:r>
            <a:r>
              <a:rPr lang="en-GB" dirty="0" err="1"/>
              <a:t>isAdult</a:t>
            </a:r>
            <a:r>
              <a:rPr lang="en-GB" dirty="0"/>
              <a:t> &amp;&amp; </a:t>
            </a:r>
            <a:r>
              <a:rPr lang="en-GB" dirty="0" err="1"/>
              <a:t>hasLicense</a:t>
            </a:r>
            <a:r>
              <a:rPr lang="en-GB" dirty="0"/>
              <a:t>) { ... }     // AND</a:t>
            </a:r>
          </a:p>
          <a:p>
            <a:pPr marL="0" indent="0">
              <a:buNone/>
            </a:pPr>
            <a:r>
              <a:rPr lang="en-GB" dirty="0"/>
              <a:t>if (</a:t>
            </a:r>
            <a:r>
              <a:rPr lang="en-GB" dirty="0" err="1"/>
              <a:t>isWeekend</a:t>
            </a:r>
            <a:r>
              <a:rPr lang="en-GB" dirty="0"/>
              <a:t> || </a:t>
            </a:r>
            <a:r>
              <a:rPr lang="en-GB" dirty="0" err="1"/>
              <a:t>isHoliday</a:t>
            </a:r>
            <a:r>
              <a:rPr lang="en-GB" dirty="0"/>
              <a:t>) { ... }    // OR</a:t>
            </a:r>
          </a:p>
          <a:p>
            <a:pPr marL="0" indent="0">
              <a:buNone/>
            </a:pPr>
            <a:r>
              <a:rPr lang="en-GB" dirty="0"/>
              <a:t>if (!</a:t>
            </a:r>
            <a:r>
              <a:rPr lang="en-GB" dirty="0" err="1"/>
              <a:t>isAdmin</a:t>
            </a:r>
            <a:r>
              <a:rPr lang="en-GB" dirty="0"/>
              <a:t>) { ... }                  // NOT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0124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4CB93-3941-15ED-F1B3-FB8D3C3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 Flow – if / else if / else</a:t>
            </a:r>
            <a:br>
              <a:rPr lang="en-GB" dirty="0"/>
            </a:b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8BFE8-F380-CDF8-8EF1-6CEB5C248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if (score &gt;= 90) {</a:t>
            </a:r>
          </a:p>
          <a:p>
            <a:pPr marL="0" indent="0">
              <a:buNone/>
            </a:pPr>
            <a:r>
              <a:rPr lang="en-GB" dirty="0"/>
              <a:t>    grade = 'A';</a:t>
            </a:r>
          </a:p>
          <a:p>
            <a:pPr marL="0" indent="0">
              <a:buNone/>
            </a:pPr>
            <a:r>
              <a:rPr lang="en-GB" dirty="0"/>
              <a:t>} else if (score &gt;= 80) {</a:t>
            </a:r>
          </a:p>
          <a:p>
            <a:pPr marL="0" indent="0">
              <a:buNone/>
            </a:pPr>
            <a:r>
              <a:rPr lang="en-GB" dirty="0"/>
              <a:t>    grade = 'B';</a:t>
            </a:r>
          </a:p>
          <a:p>
            <a:pPr marL="0" indent="0">
              <a:buNone/>
            </a:pPr>
            <a:r>
              <a:rPr lang="en-GB" dirty="0"/>
              <a:t>} else {</a:t>
            </a:r>
          </a:p>
          <a:p>
            <a:pPr marL="0" indent="0">
              <a:buNone/>
            </a:pPr>
            <a:r>
              <a:rPr lang="en-GB" dirty="0"/>
              <a:t>    grade = 'F';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1313838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E43D-FB1E-EDB2-5EBB-522E6927D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Switch Statement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8E6E6-E8B3-AAC7-5E4E-A95B0B4C6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switch (option) {</a:t>
            </a:r>
          </a:p>
          <a:p>
            <a:pPr marL="0" indent="0">
              <a:buNone/>
            </a:pPr>
            <a:r>
              <a:rPr lang="en-GB" dirty="0"/>
              <a:t>    case 1:  std::</a:t>
            </a:r>
            <a:r>
              <a:rPr lang="en-GB" dirty="0" err="1"/>
              <a:t>cout</a:t>
            </a:r>
            <a:r>
              <a:rPr lang="en-GB" dirty="0"/>
              <a:t> &lt;&lt; "Start"; break;</a:t>
            </a:r>
          </a:p>
          <a:p>
            <a:pPr marL="0" indent="0">
              <a:buNone/>
            </a:pPr>
            <a:r>
              <a:rPr lang="en-GB" dirty="0"/>
              <a:t>    case 2:  std::</a:t>
            </a:r>
            <a:r>
              <a:rPr lang="en-GB" dirty="0" err="1"/>
              <a:t>cout</a:t>
            </a:r>
            <a:r>
              <a:rPr lang="en-GB" dirty="0"/>
              <a:t> &lt;&lt; "Pause"; break;</a:t>
            </a:r>
          </a:p>
          <a:p>
            <a:pPr marL="0" indent="0">
              <a:buNone/>
            </a:pPr>
            <a:r>
              <a:rPr lang="en-GB" dirty="0"/>
              <a:t>    default: std::</a:t>
            </a:r>
            <a:r>
              <a:rPr lang="en-GB" dirty="0" err="1"/>
              <a:t>cout</a:t>
            </a:r>
            <a:r>
              <a:rPr lang="en-GB" dirty="0"/>
              <a:t> &lt;&lt; "Invalid"; break;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480376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AC878-9C6E-FB86-B9C9-55591BE0B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7774F-A735-4BCC-8785-B5BF30556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Challenge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9A9BF-28EB-8E45-5023-DA31478E9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1012480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9E753-BD72-C821-A426-918792ECB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1450" y="2767806"/>
            <a:ext cx="6769100" cy="1322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6000" dirty="0"/>
              <a:t>Thanks for coming</a:t>
            </a:r>
            <a:endParaRPr lang="en-ZM" sz="6000" dirty="0"/>
          </a:p>
        </p:txBody>
      </p:sp>
    </p:spTree>
    <p:extLst>
      <p:ext uri="{BB962C8B-B14F-4D97-AF65-F5344CB8AC3E}">
        <p14:creationId xmlns:p14="http://schemas.microsoft.com/office/powerpoint/2010/main" val="301191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507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Office Theme</vt:lpstr>
      <vt:lpstr>Basics of C++ </vt:lpstr>
      <vt:lpstr>Agenda</vt:lpstr>
      <vt:lpstr>What Are Operators?</vt:lpstr>
      <vt:lpstr>Comparison (Relational) Operators</vt:lpstr>
      <vt:lpstr>Comparison Operators – Live Examples</vt:lpstr>
      <vt:lpstr>Logical Operators</vt:lpstr>
      <vt:lpstr>Logical Operators – Examples</vt:lpstr>
      <vt:lpstr>Control Flow – if / else if / else </vt:lpstr>
      <vt:lpstr>Switch Statement</vt:lpstr>
      <vt:lpstr>Practice Challenge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Alick Banda</dc:creator>
  <cp:lastModifiedBy>Alick Banda</cp:lastModifiedBy>
  <cp:revision>3</cp:revision>
  <dcterms:created xsi:type="dcterms:W3CDTF">2026-03-06T03:17:54Z</dcterms:created>
  <dcterms:modified xsi:type="dcterms:W3CDTF">2026-03-13T16:54:54Z</dcterms:modified>
</cp:coreProperties>
</file>